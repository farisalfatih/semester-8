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926080"/>
            <a:ext cx="2560320" cy="2560320"/>
          </a:xfrm>
          <a:prstGeom prst="ellipse">
            <a:avLst/>
          </a:prstGeom>
          <a:solidFill>
            <a:srgbClr val="1A56DB">
              <a:alpha val="12000"/>
            </a:srgbClr>
          </a:solidFill>
          <a:ln w="12700">
            <a:solidFill>
              <a:srgbClr val="1A56DB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1371600"/>
            <a:ext cx="1371600" cy="137160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KAJIAN LITERATUR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Pengembangan Patterned Dataset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Prediksi Harga Cryptocurrency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310896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5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Tinjauan tiga studi berkesinambungan: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A5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statistik deskriptif hingga optimasi deep learning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4206240"/>
            <a:ext cx="1737360" cy="640080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206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Paper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4526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D5DB"/>
                </a:solidFill>
              </a:rPr>
              <a:t>Statistik Deskriptif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14600" y="4206240"/>
            <a:ext cx="1737360" cy="64008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4206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Paper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14600" y="4526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D5DB"/>
                </a:solidFill>
              </a:rPr>
              <a:t>Clustering &amp; DL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26280" y="4206240"/>
            <a:ext cx="1737360" cy="640080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4206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Paper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26280" y="4526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D5DB"/>
                </a:solidFill>
              </a:rPr>
              <a:t>Optimasi LSTM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280160" cy="329184"/>
          </a:xfrm>
          <a:prstGeom prst="roundRect">
            <a:avLst>
              <a:gd name="adj" fmla="val 13889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PAPER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Minimum, Maximum, and Average Implementation of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Patterned Datasets in Mapping Cryptocurrency Fluctuation Patterns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82296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240280"/>
            <a:ext cx="26060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240280"/>
            <a:ext cx="54864" cy="23774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331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Fokus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274320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Patterned Dataset berbasis statistik deskriptif (MIN, MAX, AVG) untuk memetakan pola fluktuasi harga cryptocurrency secara real-time.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2240280"/>
            <a:ext cx="26060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2240280"/>
            <a:ext cx="54864" cy="23774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2331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Sumber Data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56432" y="274320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publik Indodax (BTC/IDR &amp; &gt;300 aset kripto), format JSON: harga Low, High, Last, dan timestamp.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2240280"/>
            <a:ext cx="26060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2240280"/>
            <a:ext cx="54864" cy="23774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2331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Periode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91072" y="274320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5 bulan tahun 2022, dihitung per hari. Lebih dari 300 cryptocurrency dianalisis per akses API.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→ Studi ini menjadi fondasi awal pengembangan Patterned Dataset sebagai pendekatan baru dalam analisis kripto.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280160" cy="329184"/>
          </a:xfrm>
          <a:prstGeom prst="roundRect">
            <a:avLst>
              <a:gd name="adj" fmla="val 13889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PAPER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Metode: Formula Patterned Dataset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097280" cy="457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029200" cy="2743200"/>
        </p:xfrm>
        <a:graphic>
          <a:graphicData uri="http://schemas.openxmlformats.org/drawingml/2006/table">
            <a:tbl>
              <a:tblPr/>
              <a:tblGrid>
                <a:gridCol w="914400"/>
                <a:gridCol w="2011680"/>
                <a:gridCol w="2103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Keterangan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Rumus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Harga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− 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− 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− 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Top 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(TR / R) × 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Lower 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(LR / R) × 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760720" y="1280160"/>
            <a:ext cx="2926080" cy="1234440"/>
          </a:xfrm>
          <a:prstGeom prst="rect">
            <a:avLst/>
          </a:prstGeom>
          <a:solidFill>
            <a:srgbClr val="FFF1F2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60720" y="1280160"/>
            <a:ext cx="54864" cy="1234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25312" y="1371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📉  CRASH CONDITION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25312" y="16916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PLR = 0  |  PTR = 100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Harga menyentuh titik terendah 24 jam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60720" y="2651760"/>
            <a:ext cx="2926080" cy="123444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60720" y="2651760"/>
            <a:ext cx="54864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25312" y="2743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📈  MOON CONDITION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925312" y="30632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PLR = 100  |  PTR =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Harga menyentuh titik tertinggi 24 jam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Klasifikasi Bobot: Go → Super → Mega → Ultra → Golden → Diamond (setiap 10 poin)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280160" cy="329184"/>
          </a:xfrm>
          <a:prstGeom prst="roundRect">
            <a:avLst>
              <a:gd name="adj" fmla="val 13889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PAPER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&amp; Kesimpulan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097280" cy="457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5880"/>
            <a:ext cx="26060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4630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46888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Sulit menandai awal dan akhir fluktuasi dengan tepat.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325880"/>
            <a:ext cx="26060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14630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91840" y="20116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29000" y="246888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Menandai akhir fluktuasi lebih jelas, namun awal kurang akurat.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325880"/>
            <a:ext cx="2606040" cy="2468880"/>
          </a:xfrm>
          <a:prstGeom prst="rect">
            <a:avLst/>
          </a:prstGeom>
          <a:solidFill>
            <a:srgbClr val="EFF6FF"/>
          </a:solidFill>
          <a:ln w="254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325880"/>
            <a:ext cx="260604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4630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⭐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126480" y="20116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63640" y="246888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Paling akurat dalam menandai awal dan akhir fluktuasi harga.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26480" y="356616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6DB"/>
                </a:solidFill>
              </a:rPr>
              <a:t>✔ TERBAIK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82296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Perpotongan garis Moon (hijau) dan Crash (merah) menjadi sinyal awal fluktuasi harga — dasar dari Hypothesis A &amp; B.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→ Hasil ini membuka peluang untuk dikombinasikan dengan ML, DL, ARIMA, LSTM, dan GRU pada studi berikutnya.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743200"/>
            <a:ext cx="2743200" cy="27432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78BFA"/>
                </a:solidFill>
              </a:rPr>
              <a:t>MELANJUTKAN PAPER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02920" y="27432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Patterned Dataset Model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Cryptocurrency Prediction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3931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Menambahkan K-Means Clustering dan pendekatan Deep Learning (GRU vs LSTM-Conv2D)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280160" cy="329184"/>
          </a:xfrm>
          <a:prstGeom prst="roundRect">
            <a:avLst>
              <a:gd name="adj" fmla="val 1388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PAPER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Penelitian &amp; Data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09728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5880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2984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044"/>
                </a:solidFill>
              </a:rPr>
              <a:t>Menentukan pengaruh fluktuasi Bitcoin terhadap altcoin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65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19385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044"/>
                </a:solidFill>
              </a:rPr>
              <a:t>Mengoptimalkan Return on Investment (ROI) harian &amp; bulanan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06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257860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044"/>
                </a:solidFill>
              </a:rPr>
              <a:t>Membandingkan model GRU vs LSTM-Conv2D untuk skenario crash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46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321868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044"/>
                </a:solidFill>
              </a:rPr>
              <a:t>Mengembangkan tiga jenis dataset: Complete, Moon, dan Crash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52160" y="123444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52160" y="1234440"/>
            <a:ext cx="54864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🗄️  Data Penelitian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35040" y="1737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Sumber: Indodax (BTC &amp; altcoin IDR)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3504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Clustering: Mei 2022 – Des 2022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35040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ROI: Mei 2022 – Apr 2024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52160" y="3200400"/>
            <a:ext cx="2834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852160" y="3200400"/>
            <a:ext cx="54864" cy="1645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3337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📊  Metrik Evaluasi Clustering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35040" y="3703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MIS · AMI · NMI · RI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ARI · FMS · HS · VMS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Evaluasi deep learning menggunakan: MAE, MSE, RMSE, MAPE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280160" cy="329184"/>
          </a:xfrm>
          <a:prstGeom prst="roundRect">
            <a:avLst>
              <a:gd name="adj" fmla="val 1388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PAPER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Hasil: Clustering &amp; Deep Learning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09728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80160"/>
            <a:ext cx="2606040" cy="45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71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Dataset: Complete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6916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Semua kondisi pasar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0116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❌ Kurang optimal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28016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280160"/>
            <a:ext cx="26060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371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Dataset: Moon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16916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Kondisi harga naik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20116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⚠️ Cukup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280160"/>
            <a:ext cx="260604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280160"/>
            <a:ext cx="260604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371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Dataset: Crash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16916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Kondisi harga turun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0" y="20116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✅ Terbaik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834640"/>
            <a:ext cx="3840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834640"/>
            <a:ext cx="54864" cy="1645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926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GRU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32918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Lebih sederhana dan cepat dalam pelatihan, namun akurasi pada skenario crash lebih rendah.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834640"/>
            <a:ext cx="4023360" cy="1645920"/>
          </a:xfrm>
          <a:prstGeom prst="rect">
            <a:avLst/>
          </a:prstGeom>
          <a:solidFill>
            <a:srgbClr val="F5F3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834640"/>
            <a:ext cx="54864" cy="1645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LSTM-Conv2D  ✅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46320" y="32918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Lebih akurat dalam memprediksi Dataset Crash. Memungkinkan identifikasi harga maksimum setelah Diamond Crash.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C3AED"/>
                </a:solidFill>
              </a:rPr>
              <a:t>Contoh ROI Juni 2022 → potensi profit 45,93% pada BTC-IDR (Diamond Crash)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743200"/>
            <a:ext cx="2743200" cy="27432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7E8F9"/>
                </a:solidFill>
              </a:rPr>
              <a:t>MEMBANGUN TEMUAN PAPER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3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02920" y="27432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Optimasi Model Dataset Pola untuk Prediksi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Bitcoin IDR Menggunakan LSTM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3931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Mengoptimalkan akurasi LSTM melalui strategi resampling — prediksi BTC-IDR hingga 30 hari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280160" cy="329184"/>
          </a:xfrm>
          <a:prstGeom prst="roundRect">
            <a:avLst>
              <a:gd name="adj" fmla="val 1388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PAPER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LSTM &amp; Strategi Resampling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09728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114800" cy="3383280"/>
        </p:xfrm>
        <a:graphic>
          <a:graphicData uri="http://schemas.openxmlformats.org/drawingml/2006/table">
            <a:tbl>
              <a:tblPr/>
              <a:tblGrid>
                <a:gridCol w="2011680"/>
                <a:gridCol w="2103120"/>
              </a:tblGrid>
              <a:tr h="375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Nilai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 LSTM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layer, 50 unit/layer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Function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 / Batch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/ 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 Size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/ Test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 / 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Normalisasi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MinMaxScaler (0–1)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846320" y="1280160"/>
            <a:ext cx="3840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46320" y="1280160"/>
            <a:ext cx="54864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📅  Harian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0" y="17190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4"/>
                </a:solidFill>
              </a:rPr>
              <a:t>1D – 7D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846320" y="2423160"/>
            <a:ext cx="3840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46320" y="2423160"/>
            <a:ext cx="54864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0" y="2514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⏱️  Per Jam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29200" y="28620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4"/>
                </a:solidFill>
              </a:rPr>
              <a:t>1H – 12H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846320" y="3566160"/>
            <a:ext cx="3840480" cy="1005840"/>
          </a:xfrm>
          <a:prstGeom prst="rect">
            <a:avLst/>
          </a:prstGeom>
          <a:solidFill>
            <a:srgbClr val="ECFEFF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846320" y="3566160"/>
            <a:ext cx="54864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0" y="3657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⭐  Terbaik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029200" y="40050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3H (3 Jam)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Resampling terbaik ditemukan pada interval 3 Jam (3H) dengan data Mei 2022 – 23 Jan 2025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280160" cy="329184"/>
          </a:xfrm>
          <a:prstGeom prst="roundRect">
            <a:avLst>
              <a:gd name="adj" fmla="val 1388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PAPER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Perbandingan Model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09728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5880"/>
            <a:ext cx="8229600" cy="960120"/>
          </a:xfrm>
          <a:prstGeom prst="rect">
            <a:avLst/>
          </a:prstGeom>
          <a:solidFill>
            <a:srgbClr val="ECFEFF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25880"/>
            <a:ext cx="54864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LSTM (60s)  ✅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0" y="13990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MAPE: 0.19%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1399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RMSE: 870,680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17647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Hasil terbaik pada resampling 3H dengan MAPE hanya 1.30% untuk prediksi 30 hari.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423160"/>
            <a:ext cx="54864" cy="9601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514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</a:rPr>
              <a:t>ARIMA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0" y="24963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MAPE: 1.11%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2496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RMSE: 465,748,959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28620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Performa buruk pada test set — RMSE sangat tinggi.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520440"/>
            <a:ext cx="54864" cy="9601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</a:rPr>
              <a:t>1D CNN / Conv1D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0" y="35935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MAPE: 4.49%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3593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RMSE: 28,563,972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39593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MAPE tinggi, kurang cocok untuk data volatile.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37083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📊  Metrik LSTM Resampling 3H:  MAE 1,523,853e+07  |  RMSE 1,994,634e+07  |  MAPE 1.30%  |  Periode: Mei 2022 – 23 Jan 2025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914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4952" y="0"/>
            <a:ext cx="3054096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0891B2"/>
                </a:solidFill>
              </a:rPr>
              <a:t>SINTESIS &amp; BENANG MERAH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Pemetaan hingga Prediksi Optimal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2743200" cy="3200400"/>
          </a:xfrm>
          <a:prstGeom prst="rect">
            <a:avLst/>
          </a:prstGeom>
          <a:solidFill>
            <a:srgbClr val="FFFFFF">
              <a:alpha val="92000"/>
            </a:srgbClr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371600"/>
            <a:ext cx="2743200" cy="6858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417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Paper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21208" y="17373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</a:rPr>
              <a:t>Fondasi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0" y="26517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21945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Konstruksi Patterned Dataset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63347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Fungsi AVG paling akurat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07238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Deteksi sinyal Moon &amp; Crash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51129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Hypothesis A &amp; B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37560" y="1371600"/>
            <a:ext cx="2743200" cy="3200400"/>
          </a:xfrm>
          <a:prstGeom prst="rect">
            <a:avLst/>
          </a:prstGeom>
          <a:solidFill>
            <a:srgbClr val="FFFFFF">
              <a:alpha val="92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37560" y="1371600"/>
            <a:ext cx="2743200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47288" y="1417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Paper 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47288" y="17373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</a:rPr>
              <a:t>Validasi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26480" y="26517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474720" y="21945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K-Means Clustering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74720" y="263347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Dataset Crash terbaik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74720" y="307238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LSTM-Conv2D &gt; GRU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0" y="351129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ROI 45,93% (Jun 2022)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63640" y="1371600"/>
            <a:ext cx="2743200" cy="3200400"/>
          </a:xfrm>
          <a:prstGeom prst="rect">
            <a:avLst/>
          </a:prstGeom>
          <a:solidFill>
            <a:srgbClr val="FFFFFF">
              <a:alpha val="92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1371600"/>
            <a:ext cx="2743200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73368" y="1417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Paper 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73368" y="17373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</a:rPr>
              <a:t>Optimasi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21945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Resampling 3H terbaik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263347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LSTM MAPE 1,30%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0" y="307238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Prediksi 30 hari ke depan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351129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Error terendah vs ARIMA/CNN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Ketiga studi membentuk satu kerangka metodologi utuh yang dapat diperluas dengan analisis sentimen, model transformer, atau data multi-exchange.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Jurnal Patterned Dataset Cryptocurrency</dc:title>
  <dc:subject>PptxGenJS Presentation</dc:subject>
  <dc:creator>PptxGenJS</dc:creator>
  <cp:lastModifiedBy>PptxGenJS</cp:lastModifiedBy>
  <cp:revision>1</cp:revision>
  <dcterms:created xsi:type="dcterms:W3CDTF">2026-02-19T08:01:20Z</dcterms:created>
  <dcterms:modified xsi:type="dcterms:W3CDTF">2026-02-19T08:01:20Z</dcterms:modified>
</cp:coreProperties>
</file>